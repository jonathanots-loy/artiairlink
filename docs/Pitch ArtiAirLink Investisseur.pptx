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 de marché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</c:dPt>
          <c:dPt>
            <c:idx val="2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Agriculture</c:v>
                </c:pt>
                <c:pt idx="1">
                  <c:v>Infrastructure</c:v>
                </c:pt>
                <c:pt idx="2">
                  <c:v>Logistique RDC</c:v>
                </c:pt>
                <c:pt idx="3">
                  <c:v>Formation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 w="12700" cap="flat">
      <a:solidFill>
        <a:srgbClr val="363636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Revenus vs Charges (€)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Revenus (€)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Phase 1 (An 1)</c:v>
                  </c:pt>
                  <c:pt idx="1">
                    <c:v>Phase 2 (An 2)</c:v>
                  </c:pt>
                  <c:pt idx="2">
                    <c:v>Phase 3 (An 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38400</c:v>
                </c:pt>
                <c:pt idx="1">
                  <c:v>105320</c:v>
                </c:pt>
                <c:pt idx="2">
                  <c:v>193000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Charges (€)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Phase 1 (An 1)</c:v>
                  </c:pt>
                  <c:pt idx="1">
                    <c:v>Phase 2 (An 2)</c:v>
                  </c:pt>
                  <c:pt idx="2">
                    <c:v>Phase 3 (An 3)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11200</c:v>
                </c:pt>
                <c:pt idx="1">
                  <c:v>60400</c:v>
                </c:pt>
                <c:pt idx="2">
                  <c:v>103200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ARTI-AIRLINK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65760" y="2148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Drone Hybride : Inspection &amp; Transport Léger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788920"/>
            <a:ext cx="5029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88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Belgique → RDC → Afrique subsaharienne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566160"/>
            <a:ext cx="164592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35844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300–500g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069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3566160"/>
            <a:ext cx="164592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35844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Phases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4069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3566160"/>
            <a:ext cx="164592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06240" y="35844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06240" y="4069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731520"/>
            <a:ext cx="2468880" cy="2468880"/>
          </a:xfrm>
          <a:prstGeom prst="ellipse">
            <a:avLst/>
          </a:prstGeom>
          <a:solidFill>
            <a:srgbClr val="1B4F72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96012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🚁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PROBLÈME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241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Instabilité technique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4447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drones jouets sans IMU ne peuvent pas stabiliser une charge variable. Impossibilité de transport fiable sans contrôleur PID.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73152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0241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Réglementation complexe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4447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normes EASA A1/A2/SORA imposent certifications, assurances et formations. Barrière à l'entrée pour les petits acteurs.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43200"/>
            <a:ext cx="73152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8529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Logistique africaine défaillante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32735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RDC et l'Afrique subsaharienne manquent d'infrastructure routière. Le dernier kilomètre coûte cher et prend du temps.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743200"/>
            <a:ext cx="73152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8529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Modèle économique flou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2735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projets drones échouent faute de revenus en phase 1. Nécessité d'une activité génératrice de cash dès le démarrage.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NOTRE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drone hybride polyvalent : inspection professionnelle + transport de charges légères jusqu'à 500g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783080"/>
            <a:ext cx="1965960" cy="283464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783080"/>
            <a:ext cx="196596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0136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IMU + PID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7249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 précise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090672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Gyroscope 6 axes + contrôleur PID adaptatif = vol stable même avec charge variable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1783080"/>
            <a:ext cx="1965960" cy="283464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783080"/>
            <a:ext cx="196596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80136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2316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Servo Largage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23160" y="27249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300–500g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3090672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de largage servo précis, déclenché à distance ou automatiquement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783080"/>
            <a:ext cx="1965960" cy="283464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783080"/>
            <a:ext cx="196596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80136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Hybride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27249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drones en parallèle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3090672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commercial (départ rapide) + drone custom en R&amp;D simultanée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20840" y="1783080"/>
            <a:ext cx="1965960" cy="283464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0840" y="1783080"/>
            <a:ext cx="196596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80136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2084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intégrée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27249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anomalies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3090672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pour inspection automatisée des infrastructures et cultures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OPPORTUNITÉ DE MARCHÉ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412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 Mrd$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mondial UAS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743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412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0" y="15361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annuelle drones civils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822960"/>
            <a:ext cx="2743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8412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15361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mal desservies en Afrique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2402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 cibles d'Arti-AirLink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69748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97480"/>
            <a:ext cx="196596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97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Agriculture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200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37490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cultures, irrigation, stress hydrique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23160" y="269748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23160" y="2697480"/>
            <a:ext cx="196596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2697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Infrastructure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23160" y="3200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514600" y="37490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Ponts, lignes HT, toitures industrielles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269748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697480"/>
            <a:ext cx="196596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697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Logistique RDC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3200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663440" y="37490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médical et équipements en zone isolée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20840" y="269748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20840" y="2697480"/>
            <a:ext cx="196596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2697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Formation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3200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812280" y="37490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réglementaire et certification pilotes</a:t>
            </a:r>
            <a:endParaRPr lang="en-US" sz="9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7132320" y="2651760"/>
          <a:ext cx="1828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STRATÉGIE EN 3 PHASES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743200" cy="3840480"/>
          </a:xfrm>
          <a:prstGeom prst="rect">
            <a:avLst/>
          </a:prstGeom>
          <a:solidFill>
            <a:srgbClr val="1B4F72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60120"/>
            <a:ext cx="27432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INSPECTION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12 mois | Belgique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15–40K€ /an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971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Drone commercial certifié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3192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Clients agriculture/industrie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6667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Conformité DGTA A1/A2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40142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Revenus opérationnels dès J1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743200" cy="3840480"/>
          </a:xfrm>
          <a:prstGeom prst="rect">
            <a:avLst/>
          </a:prstGeom>
          <a:solidFill>
            <a:srgbClr val="1B4F72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60120"/>
            <a:ext cx="27432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960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R&amp;D + SCALE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– 24 mois | Belgique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468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40–80K€ /an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37560" y="2971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Drone custom IMU+PID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3192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Mécanisme largage servo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6667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Extension clientèle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40142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Brevets &amp; propriété intel.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960120"/>
            <a:ext cx="2743200" cy="3840480"/>
          </a:xfrm>
          <a:prstGeom prst="rect">
            <a:avLst/>
          </a:prstGeom>
          <a:solidFill>
            <a:srgbClr val="1B4F72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960120"/>
            <a:ext cx="274320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960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EXPANSION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2648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– 48 mois | Belgique + RDC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468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100K€+ /an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63640" y="2971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Marchés africains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3192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Partenariats ONG &amp; santé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6667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IA d'inspection embarquée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40142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Franchise &amp; licences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08960" y="2697480"/>
            <a:ext cx="32004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0" y="26974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35040" y="2697480"/>
            <a:ext cx="32004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26974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PROJECTIONS FINANCIÈRES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04672"/>
            <a:ext cx="3017520" cy="960120"/>
          </a:xfrm>
          <a:prstGeom prst="rect">
            <a:avLst/>
          </a:prstGeom>
          <a:solidFill>
            <a:srgbClr val="0D1B2A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61888" y="8503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38K€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60920" y="8503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An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6092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Belgique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315200" y="804672"/>
            <a:ext cx="36576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0" y="1883664"/>
            <a:ext cx="3017520" cy="960120"/>
          </a:xfrm>
          <a:prstGeom prst="rect">
            <a:avLst/>
          </a:prstGeom>
          <a:solidFill>
            <a:srgbClr val="0D1B2A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61888" y="19293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105K€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360920" y="192938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An 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60920" y="23591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+174% vs An 1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315200" y="1883664"/>
            <a:ext cx="36576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52160" y="2962656"/>
            <a:ext cx="3017520" cy="960120"/>
          </a:xfrm>
          <a:prstGeom prst="rect">
            <a:avLst/>
          </a:prstGeom>
          <a:solidFill>
            <a:srgbClr val="0D1B2A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61888" y="30083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193K€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360920" y="300837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An 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60920" y="343814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international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315200" y="2962656"/>
            <a:ext cx="36576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52160" y="4041648"/>
            <a:ext cx="3017520" cy="960120"/>
          </a:xfrm>
          <a:prstGeom prst="rect">
            <a:avLst/>
          </a:prstGeom>
          <a:solidFill>
            <a:srgbClr val="0D1B2A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961888" y="40873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~12 mois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360920" y="40873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 invest.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60920" y="45171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Phase 1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315200" y="4041648"/>
            <a:ext cx="36576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CONFORMITÉ RÉGLEMENTAIRE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9659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 / A3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Vols simples en zone ouverte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&lt; 250g, loin des personnes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547872"/>
            <a:ext cx="150876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478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Couvert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822960"/>
            <a:ext cx="1965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822960"/>
            <a:ext cx="19659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822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155448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Proximité habitations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&lt; 4kg, C2, brevet pilote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1–2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3547872"/>
            <a:ext cx="150876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35478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Couvert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822960"/>
            <a:ext cx="1965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822960"/>
            <a:ext cx="19659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822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SORA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155448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risque complète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Nécessaire pour livraison commerciale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3547872"/>
            <a:ext cx="150876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5478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En cours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822960"/>
            <a:ext cx="1965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20840" y="822960"/>
            <a:ext cx="19659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822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DGTA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Belgique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155448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opérateur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RC obligatoire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2084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3547872"/>
            <a:ext cx="150876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5478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Planifié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PERSPECTIVES &amp; VISION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743200" cy="173736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IA Embarquée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" y="149047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d'anomalies (vision par ordinateur). Rapport d'inspection généré automatiquement après chaque vol.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10128" y="105156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Énergie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10128" y="149047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LiPo haute densité + recharge solaire terrain. Autonomie cible : 45 min de vol sous charge complète.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26480" y="960120"/>
            <a:ext cx="2743200" cy="173736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36208" y="105156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Expansion RDC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36208" y="149047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ONG, MSF, UNICEF. Transport médicaments et équipements médicaux. Réseau de dépôts relais.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2743200" cy="173736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301752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Connectivité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345643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4G/LTE pour pilotage longue distance. Streaming vidéo en temps réel pour clients à distance.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2926080"/>
            <a:ext cx="2743200" cy="173736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10128" y="301752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 Scale-up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345643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du système à d'autres opérateurs certifiés. Modèle franchise Arti-AirLink dans 5+ pays d'ici 2030.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2926080"/>
            <a:ext cx="2743200" cy="173736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36208" y="301752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Innovation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345643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de brevets sur le mécanisme de largage adaptatif. Partenariats avec universités belges (ULB, UCLouvain).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REJOIGNEZ L'AVENTURE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Arti-AirLink cherche des partenaires stratégiques, investisseurs et pilotes certifiés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228600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214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67004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2103120"/>
            <a:ext cx="228600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21214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267004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 &amp; Institutions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228600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1214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267004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certifiés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297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contact@arti-airlink.be  |  www.arti-airlink.be  |  Belgique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Arti-AirLink — Investor Pitch Deck</dc:title>
  <dc:subject>PptxGenJS Presentation</dc:subject>
  <dc:creator>Arti-AirLink</dc:creator>
  <cp:lastModifiedBy>Arti-AirLink</cp:lastModifiedBy>
  <cp:revision>1</cp:revision>
  <dcterms:created xsi:type="dcterms:W3CDTF">2026-03-28T01:39:14Z</dcterms:created>
  <dcterms:modified xsi:type="dcterms:W3CDTF">2026-03-28T01:39:14Z</dcterms:modified>
</cp:coreProperties>
</file>